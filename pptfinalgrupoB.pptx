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71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73152" cy="22860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INSTITUTO DE EDUCACIÓN SUPERIOR PRIVADO CIBERTEC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Sistema de Gestión de Órdenes</a:t>
            </a:r>
            <a:br>
              <a:rPr lang="es-PE" noProof="0" dirty="0"/>
            </a:br>
            <a:r>
              <a:rPr lang="es-PE" noProof="0" dirty="0"/>
              <a:t> de Compra y Materiales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DEFB"/>
                </a:solidFill>
                <a:latin typeface="Calibri"/>
              </a:defRPr>
            </a:pPr>
            <a:r>
              <a:rPr lang="es-PE" noProof="0" dirty="0"/>
              <a:t>Aplicación Web para SERFAGAB S.A.C.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>
                <a:solidFill>
                  <a:srgbClr val="99BBDD"/>
                </a:solidFill>
                <a:latin typeface="Calibri"/>
              </a:defRPr>
            </a:pPr>
            <a:r>
              <a:rPr lang="es-PE" noProof="0" dirty="0"/>
              <a:t>Curso: Lenguaje de Programación II (4691)</a:t>
            </a:r>
          </a:p>
          <a:p>
            <a:pPr algn="l">
              <a:spcAft>
                <a:spcPts val="400"/>
              </a:spcAft>
              <a:defRPr sz="1600">
                <a:solidFill>
                  <a:srgbClr val="99BBDD"/>
                </a:solidFill>
                <a:latin typeface="Calibri"/>
              </a:defRPr>
            </a:pPr>
            <a:r>
              <a:rPr lang="es-PE" noProof="0" dirty="0"/>
              <a:t>Carrera: Computación e Informática — Ciclo: Cuarto</a:t>
            </a:r>
          </a:p>
          <a:p>
            <a:pPr algn="l">
              <a:spcAft>
                <a:spcPts val="400"/>
              </a:spcAft>
              <a:defRPr sz="1600">
                <a:solidFill>
                  <a:srgbClr val="99BBDD"/>
                </a:solidFill>
                <a:latin typeface="Calibri"/>
              </a:defRPr>
            </a:pPr>
            <a:r>
              <a:rPr lang="es-PE" noProof="0" dirty="0"/>
              <a:t>Período: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663440"/>
            <a:ext cx="5029200" cy="1463040"/>
          </a:xfrm>
          <a:prstGeom prst="roundRect">
            <a:avLst/>
          </a:prstGeom>
          <a:solidFill>
            <a:srgbClr val="244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rPr lang="es-PE" noProof="0" dirty="0"/>
              <a:t>INTEGRANTES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Valerie </a:t>
            </a:r>
            <a:r>
              <a:rPr lang="es-PE" noProof="0" dirty="0" err="1"/>
              <a:t>Giulisa</a:t>
            </a:r>
            <a:r>
              <a:rPr lang="es-PE" noProof="0" dirty="0"/>
              <a:t> Sue Cavero Chipana — 202504206</a:t>
            </a:r>
          </a:p>
          <a:p>
            <a:pPr algn="l"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lang="es-PE" noProof="0" dirty="0" err="1"/>
              <a:t>Jhon</a:t>
            </a:r>
            <a:r>
              <a:rPr lang="es-PE" noProof="0" dirty="0"/>
              <a:t> Espinoza — 202508364</a:t>
            </a:r>
          </a:p>
          <a:p>
            <a:pPr algn="l"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Manuel Heber Sejuro Alfaro — 202503691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663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Docente:</a:t>
            </a:r>
            <a:br>
              <a:rPr lang="es-PE" noProof="0" dirty="0"/>
            </a:br>
            <a:r>
              <a:rPr lang="es-PE" noProof="0" dirty="0"/>
              <a:t>Ernesto Arbulu </a:t>
            </a:r>
            <a:r>
              <a:rPr lang="es-PE" noProof="0" dirty="0" err="1"/>
              <a:t>Chumbipuma</a:t>
            </a:r>
            <a:endParaRPr lang="es-PE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9728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Índice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Contenido de la presentación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5819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15819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¿Qué es SERFAGAB S.A.C.?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0391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1097280" y="20391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Problema detectado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4963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1097280" y="24963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Objetivos del proyecto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29535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097280" y="29535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Solución propuesta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34107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097280" y="34107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Tecnologías utilizadas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38679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1097280" y="38679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Arquitectura del sistema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43251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1097280" y="43251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Base de datos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47823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1097280" y="47823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Módulos del sistema</a:t>
            </a:r>
          </a:p>
        </p:txBody>
      </p:sp>
      <p:sp>
        <p:nvSpPr>
          <p:cNvPr id="32" name="Oval 31"/>
          <p:cNvSpPr/>
          <p:nvPr/>
        </p:nvSpPr>
        <p:spPr>
          <a:xfrm>
            <a:off x="1097280" y="52395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1097280" y="52395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Demostración</a:t>
            </a:r>
          </a:p>
        </p:txBody>
      </p:sp>
      <p:sp>
        <p:nvSpPr>
          <p:cNvPr id="35" name="Oval 34"/>
          <p:cNvSpPr/>
          <p:nvPr/>
        </p:nvSpPr>
        <p:spPr>
          <a:xfrm>
            <a:off x="1097280" y="5696712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1097280" y="56967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Conclusiones y recomendaciones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¿Qué es SERFAGAB S.A.C.?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Conociendo a la empresa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029200" cy="3200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🏭  Datos de la empresa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Empresa dedicada a la fabricación de tableros metálicos.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Actualmente gestiona sus compras de forma manual o con herramientas dispersas.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No cuenta con un sistema web integrado para la gestión.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Necesita centralizar y automatizar sus procesos operativos.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029200" cy="3200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rPr lang="es-PE" noProof="0" dirty="0"/>
              <a:t>⚠️  Situación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Dificultad en el control de proveedores y materiales.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Procesos manuales → errores y demoras.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Falta de trazabilidad en órdenes de compra.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Información dispersa sin unificación.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3474720" cy="10972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Rubro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Fabricación de tableros metálicos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5029200"/>
            <a:ext cx="3474720" cy="10972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663439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Personal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Administrativo, compras, almacén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8" y="5029200"/>
            <a:ext cx="3474720" cy="10972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412478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8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Ubicación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8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Lima, Perú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Problema Detectado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Análisis SEPTE de la situación actual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411480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rPr lang="es-PE" noProof="0" dirty="0"/>
              <a:t>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Desorganización</a:t>
            </a:r>
            <a:br>
              <a:rPr lang="es-PE" noProof="0" dirty="0"/>
            </a:br>
            <a:r>
              <a:rPr lang="es-PE" noProof="0" dirty="0"/>
              <a:t>interna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El personal pierde tiempo buscando información y cometiendo errores manuales.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554480"/>
            <a:ext cx="3383280" cy="41148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480559" y="1554480"/>
            <a:ext cx="33832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754879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rPr lang="es-PE" noProof="0" dirty="0"/>
              <a:t>Económica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Sobre costos</a:t>
            </a:r>
            <a:br>
              <a:rPr lang="es-PE" noProof="0" dirty="0"/>
            </a:br>
            <a:r>
              <a:rPr lang="es-PE" noProof="0" dirty="0"/>
              <a:t>operativos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Compras innecesarias, retrasos en producción y falta de control financiero.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1554480"/>
            <a:ext cx="338328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9" name="Rectangle 18"/>
          <p:cNvSpPr/>
          <p:nvPr/>
        </p:nvSpPr>
        <p:spPr>
          <a:xfrm>
            <a:off x="8229598" y="155448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8503918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rPr lang="es-PE" noProof="0" dirty="0"/>
              <a:t>Tecnológica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Sin sistema</a:t>
            </a:r>
            <a:br>
              <a:rPr lang="es-PE" noProof="0" dirty="0"/>
            </a:br>
            <a:r>
              <a:rPr lang="es-PE" noProof="0" dirty="0"/>
              <a:t>integrado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No existe una aplicación web para gestionar compras ni base de datos centralizada.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852160"/>
            <a:ext cx="94183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1828800" y="5897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💡  Necesidad: Un sistema que centralice, automatice y brinde trazabilidad a las compras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Objetivos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SMART: Específicos, Medibles, Alcanzables, Relevantes, con Tiempo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rPr lang="es-PE" noProof="0" dirty="0"/>
              <a:t>🎯  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Desarrollar una aplicación web que permita gestionar de manera eficiente las órdenes de compra y el control de materiales en la empresa SERFAGAB S.A.C.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338328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OBJ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Módulo de registro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Implementar mantenimiento de proveedores, tipos de materiales y materiales, haciendo el proceso un 50% más rápido vs. Excel.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0175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7" name="Rectangle 16"/>
          <p:cNvSpPr/>
          <p:nvPr/>
        </p:nvSpPr>
        <p:spPr>
          <a:xfrm>
            <a:off x="4480559" y="301752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4754879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Calibri"/>
              </a:defRPr>
            </a:pPr>
            <a:r>
              <a:rPr lang="es-PE" noProof="0" dirty="0"/>
              <a:t>OBJ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9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rPr lang="es-PE" noProof="0" dirty="0"/>
              <a:t>Órdenes de compra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6576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Desarrollar generación y consulta de OC con filtros que reduzcan en 50% el tiempo de búsqueda de información.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8" y="301752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2" name="Rectangle 21"/>
          <p:cNvSpPr/>
          <p:nvPr/>
        </p:nvSpPr>
        <p:spPr>
          <a:xfrm>
            <a:off x="8229598" y="3017520"/>
            <a:ext cx="33832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503918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rPr lang="es-PE" noProof="0" dirty="0"/>
              <a:t>OBJ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8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rPr lang="es-PE" noProof="0" dirty="0"/>
              <a:t>Autenticación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8" y="36576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Implementar </a:t>
            </a:r>
            <a:r>
              <a:rPr lang="es-PE" noProof="0" dirty="0" err="1"/>
              <a:t>login</a:t>
            </a:r>
            <a:r>
              <a:rPr lang="es-PE" noProof="0" dirty="0"/>
              <a:t> de acceso para tener 0% de manipulación por usuarios no autorizados.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-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Diagrama de Casos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Actores y sus funciones en el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3035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Actores del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Administrador: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 Usuario con acceso completo al sistema. Puede gestionar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 tipos de usuario y tiene visibilidad total de todos los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 registros y funcionalidades del sistema.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endParaRPr lang="es-PE" noProof="0" dirty="0"/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Usuario (Compras/Almacén):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 Personal operativo encargado de la gestión diaria.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 Puede iniciar sesión, gestionar proveedores, tipos de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 material, materiales, órdenes de compra y reportes.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rPr lang="es-PE" noProof="0" dirty="0"/>
              <a:t>Casos de Uso del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1. Iniciar Sesión                     (Usuario, Administrador)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2. Gestionar Proveedores           (Usuario, Administrador)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3. Gestionar Tipos de Material   (Usuario, Administrador)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4. Gestionar Materiales            (Usuario, Administrador)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5. Registrar Órdenes de Compra   (Usuario)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6. Consultar Órdenes de Compra   (Usuario, Administrador)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7. Cambiar Estado de OC           (Usuario)</a:t>
            </a:r>
          </a:p>
          <a:p>
            <a:pPr algn="l"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8. Generar Reporte PDF            (Usuario, Administrador)</a:t>
            </a:r>
          </a:p>
        </p:txBody>
      </p:sp>
      <p:pic>
        <p:nvPicPr>
          <p:cNvPr id="14" name="Picture 13" descr="caso_uso_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31920"/>
            <a:ext cx="10515600" cy="256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7/15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Solución Propuesta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Aplicación Web para SERFAGAB S.A.C.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5760720" cy="9144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3474720" y="15087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🌐  Sistema de Gestión de Órdenes de Compra y Materiales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1" name="Oval 10"/>
          <p:cNvSpPr/>
          <p:nvPr/>
        </p:nvSpPr>
        <p:spPr>
          <a:xfrm>
            <a:off x="2103120" y="246888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103120" y="2514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Inicio</a:t>
            </a:r>
            <a:br>
              <a:rPr lang="es-PE" noProof="0" dirty="0"/>
            </a:br>
            <a:r>
              <a:rPr lang="es-PE" noProof="0" dirty="0"/>
              <a:t>de sesión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Acceso seguro</a:t>
            </a:r>
            <a:br>
              <a:rPr lang="es-PE" noProof="0" dirty="0"/>
            </a:br>
            <a:r>
              <a:rPr lang="es-PE" noProof="0" dirty="0"/>
              <a:t>mediante </a:t>
            </a:r>
            <a:r>
              <a:rPr lang="es-PE" noProof="0" dirty="0" err="1"/>
              <a:t>login</a:t>
            </a:r>
            <a:endParaRPr lang="es-PE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4480559" y="2743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6" name="Oval 15"/>
          <p:cNvSpPr/>
          <p:nvPr/>
        </p:nvSpPr>
        <p:spPr>
          <a:xfrm>
            <a:off x="5852159" y="2468880"/>
            <a:ext cx="640080" cy="64008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852159" y="2514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Gestionar</a:t>
            </a:r>
            <a:br>
              <a:rPr lang="es-PE" noProof="0" dirty="0"/>
            </a:br>
            <a:r>
              <a:rPr lang="es-PE" noProof="0" dirty="0"/>
              <a:t>maestros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Proveedores,</a:t>
            </a:r>
            <a:br>
              <a:rPr lang="es-PE" noProof="0" dirty="0"/>
            </a:br>
            <a:r>
              <a:rPr lang="es-PE" noProof="0" dirty="0"/>
              <a:t>tipos y materiales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8" y="27432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1" name="Oval 20"/>
          <p:cNvSpPr/>
          <p:nvPr/>
        </p:nvSpPr>
        <p:spPr>
          <a:xfrm>
            <a:off x="9601198" y="246888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9601198" y="2514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8" y="3200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Órdenes</a:t>
            </a:r>
            <a:br>
              <a:rPr lang="es-PE" noProof="0" dirty="0"/>
            </a:br>
            <a:r>
              <a:rPr lang="es-PE" noProof="0" dirty="0"/>
              <a:t>de compra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8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Registro, consulta</a:t>
            </a:r>
            <a:br>
              <a:rPr lang="es-PE" noProof="0" dirty="0"/>
            </a:br>
            <a:r>
              <a:rPr lang="es-PE" noProof="0" dirty="0"/>
              <a:t>y cambio de estado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59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109728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✅  BENEFICIOS 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5302" y="5257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Automatización de procesos de compra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Información centralizada y segura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Trazabilidad completa de órdenes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Reducción de errores operativos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166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Interfaz web amigable e intuitiva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Acceso desde cualquier navegador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Reportes en PDF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Base para futuras expansiones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6/15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Tecnologías Utilizadas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Stack tecnológico del 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828800" cy="82296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 err="1"/>
              <a:t>Backend</a:t>
            </a:r>
            <a:endParaRPr lang="es-PE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743200" y="1508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Java 17</a:t>
            </a:r>
            <a:br>
              <a:rPr lang="es-PE" noProof="0" dirty="0"/>
            </a:br>
            <a:r>
              <a:rPr lang="es-PE" noProof="0" dirty="0"/>
              <a:t>Spring Boot 3.5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5544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Framework principal con configuración automatizada, JPA y MVC.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1828800" cy="822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 err="1"/>
              <a:t>Frontend</a:t>
            </a:r>
            <a:endParaRPr lang="es-PE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743200" y="2514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 err="1"/>
              <a:t>Thymeleaf</a:t>
            </a:r>
            <a:br>
              <a:rPr lang="es-PE" noProof="0" dirty="0"/>
            </a:br>
            <a:r>
              <a:rPr lang="es-PE" noProof="0" dirty="0"/>
              <a:t>HTML +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5603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 err="1"/>
              <a:t>Templates</a:t>
            </a:r>
            <a:r>
              <a:rPr lang="es-PE" noProof="0" dirty="0"/>
              <a:t> del lado del servidor con Bootstrap y SweetAlert2.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828800" cy="82296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Base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20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MySQL 8</a:t>
            </a:r>
            <a:br>
              <a:rPr lang="es-PE" noProof="0" dirty="0"/>
            </a:br>
            <a:r>
              <a:rPr lang="es-PE" noProof="0" dirty="0"/>
              <a:t>JPA / </a:t>
            </a:r>
            <a:r>
              <a:rPr lang="es-PE" noProof="0" dirty="0" err="1"/>
              <a:t>Hibernate</a:t>
            </a:r>
            <a:endParaRPr lang="es-PE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5669280" y="35661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Base de datos relacional con ORM para mapeo objeto-relacional.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18288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Reportes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26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 err="1"/>
              <a:t>JasperReports</a:t>
            </a:r>
            <a:br>
              <a:rPr lang="es-PE" noProof="0" dirty="0"/>
            </a:br>
            <a:r>
              <a:rPr lang="es-PE" noProof="0" dirty="0"/>
              <a:t>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5720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Generación de reportes en PDF desde la aplicación.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82880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532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Eclipse JEE</a:t>
            </a:r>
            <a:br>
              <a:rPr lang="es-PE" noProof="0" dirty="0"/>
            </a:br>
            <a:r>
              <a:rPr lang="es-PE" noProof="0" dirty="0"/>
              <a:t>Maven + Lombok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5778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IDE, gestor de dependencias y librería para reducir </a:t>
            </a:r>
            <a:r>
              <a:rPr lang="es-PE" noProof="0" dirty="0" err="1"/>
              <a:t>boilerplate</a:t>
            </a:r>
            <a:r>
              <a:rPr lang="es-PE" noProof="0" dirty="0"/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9144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📌  Java 17 · Spring Boot 3.5 · MySQL 8 · </a:t>
            </a:r>
            <a:r>
              <a:rPr lang="es-PE" noProof="0" dirty="0" err="1"/>
              <a:t>Thymeleaf</a:t>
            </a:r>
            <a:r>
              <a:rPr lang="es-PE" noProof="0" dirty="0"/>
              <a:t> · </a:t>
            </a:r>
            <a:r>
              <a:rPr lang="es-PE" noProof="0" dirty="0" err="1"/>
              <a:t>JasperReports</a:t>
            </a:r>
            <a:r>
              <a:rPr lang="es-PE" noProof="0" dirty="0"/>
              <a:t> 6.21 · Lombok · Maven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Arquitectura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Patrón MVC en 3 capas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29200" cy="91440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DEFB"/>
                </a:solidFill>
                <a:latin typeface="Calibri"/>
              </a:defRPr>
            </a:pPr>
            <a:r>
              <a:rPr lang="es-PE" noProof="0" dirty="0"/>
              <a:t>CAPA DE 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 err="1"/>
              <a:t>Thymeleaf</a:t>
            </a:r>
            <a:r>
              <a:rPr lang="es-PE" noProof="0" dirty="0"/>
              <a:t> </a:t>
            </a:r>
            <a:r>
              <a:rPr lang="es-PE" noProof="0" dirty="0" err="1"/>
              <a:t>Templates</a:t>
            </a:r>
            <a:br>
              <a:rPr lang="es-PE" noProof="0" dirty="0"/>
            </a:br>
            <a:r>
              <a:rPr lang="es-PE" noProof="0" dirty="0"/>
              <a:t>HTML + CSS +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rPr lang="es-PE" noProof="0" dirty="0"/>
              <a:t>Vistas e interfaz de usuario</a:t>
            </a:r>
            <a:br>
              <a:rPr lang="es-PE" noProof="0" dirty="0"/>
            </a:br>
            <a:r>
              <a:rPr lang="es-PE" noProof="0" dirty="0"/>
              <a:t>Login, </a:t>
            </a:r>
            <a:r>
              <a:rPr lang="es-PE" noProof="0" dirty="0" err="1"/>
              <a:t>Dashboard</a:t>
            </a:r>
            <a:r>
              <a:rPr lang="es-PE" noProof="0" dirty="0"/>
              <a:t>, </a:t>
            </a:r>
            <a:r>
              <a:rPr lang="es-PE" noProof="0" dirty="0" err="1"/>
              <a:t>CRUDs</a:t>
            </a:r>
            <a:endParaRPr lang="es-PE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029200" cy="9144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DEFB"/>
                </a:solidFill>
                <a:latin typeface="Calibri"/>
              </a:defRPr>
            </a:pPr>
            <a:r>
              <a:rPr lang="es-PE" noProof="0" dirty="0"/>
              <a:t>CAPA DE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 err="1"/>
              <a:t>Controllers</a:t>
            </a:r>
            <a:r>
              <a:rPr lang="es-PE" noProof="0" dirty="0"/>
              <a:t> (MVC)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rPr lang="es-PE" noProof="0" dirty="0"/>
              <a:t>Recibe peticiones HTTP</a:t>
            </a:r>
            <a:br>
              <a:rPr lang="es-PE" noProof="0" dirty="0"/>
            </a:br>
            <a:r>
              <a:rPr lang="es-PE" noProof="0" dirty="0"/>
              <a:t>Orquesta la lógica y retorna vistas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029200" cy="9144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DEFB"/>
                </a:solidFill>
                <a:latin typeface="Calibri"/>
              </a:defRPr>
            </a:pPr>
            <a:r>
              <a:rPr lang="es-PE" noProof="0" dirty="0"/>
              <a:t>CAPA DE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 err="1"/>
              <a:t>Services</a:t>
            </a:r>
            <a:endParaRPr lang="es-PE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3474720" y="4114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rPr lang="es-PE" noProof="0" dirty="0"/>
              <a:t>Lógica de negocio</a:t>
            </a:r>
            <a:br>
              <a:rPr lang="es-PE" noProof="0" dirty="0"/>
            </a:br>
            <a:r>
              <a:rPr lang="es-PE" noProof="0" dirty="0"/>
              <a:t>Validaciones y transacciones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5029200" cy="914400"/>
          </a:xfrm>
          <a:prstGeom prst="roundRect">
            <a:avLst/>
          </a:prstGeom>
          <a:solidFill>
            <a:srgbClr val="1A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DEFB"/>
                </a:solidFill>
                <a:latin typeface="Calibri"/>
              </a:defRPr>
            </a:pPr>
            <a:r>
              <a:rPr lang="es-PE" noProof="0" dirty="0"/>
              <a:t>CAPA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 err="1"/>
              <a:t>Repositories</a:t>
            </a:r>
            <a:r>
              <a:rPr lang="es-PE" noProof="0" dirty="0"/>
              <a:t> + JPA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303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rPr lang="es-PE" noProof="0" dirty="0"/>
              <a:t>Acceso a base de datos</a:t>
            </a:r>
            <a:br>
              <a:rPr lang="es-PE" noProof="0" dirty="0"/>
            </a:br>
            <a:r>
              <a:rPr lang="es-PE" noProof="0" dirty="0"/>
              <a:t>Consultas JPQL personalizadas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377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468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566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463040"/>
            <a:ext cx="5303520" cy="4572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🔄  FLUJO DE UNA SOLICITUD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1. El usuario accede a una URL desde su navegador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2. El </a:t>
            </a:r>
            <a:r>
              <a:rPr lang="es-PE" noProof="0" dirty="0" err="1"/>
              <a:t>Controller</a:t>
            </a:r>
            <a:r>
              <a:rPr lang="es-PE" noProof="0" dirty="0"/>
              <a:t> recibe la petición HTTP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3. El </a:t>
            </a:r>
            <a:r>
              <a:rPr lang="es-PE" noProof="0" dirty="0" err="1"/>
              <a:t>Controller</a:t>
            </a:r>
            <a:r>
              <a:rPr lang="es-PE" noProof="0" dirty="0"/>
              <a:t> llama al Service correspondiente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4. El Service ejecuta la lógica de negocio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5. El Service consulta al </a:t>
            </a:r>
            <a:r>
              <a:rPr lang="es-PE" noProof="0" dirty="0" err="1"/>
              <a:t>Repository</a:t>
            </a:r>
            <a:r>
              <a:rPr lang="es-PE" noProof="0" dirty="0"/>
              <a:t> (JPA)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6. El </a:t>
            </a:r>
            <a:r>
              <a:rPr lang="es-PE" noProof="0" dirty="0" err="1"/>
              <a:t>Repository</a:t>
            </a:r>
            <a:r>
              <a:rPr lang="es-PE" noProof="0" dirty="0"/>
              <a:t> ejecuta la consulta SQL en MySQL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7. Los datos retornan al Service → </a:t>
            </a:r>
            <a:r>
              <a:rPr lang="es-PE" noProof="0" dirty="0" err="1"/>
              <a:t>Controller</a:t>
            </a:r>
            <a:endParaRPr lang="es-PE" noProof="0" dirty="0"/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8. El </a:t>
            </a:r>
            <a:r>
              <a:rPr lang="es-PE" noProof="0" dirty="0" err="1"/>
              <a:t>Controller</a:t>
            </a:r>
            <a:r>
              <a:rPr lang="es-PE" noProof="0" dirty="0"/>
              <a:t> pasa los datos a la Vista </a:t>
            </a:r>
            <a:r>
              <a:rPr lang="es-PE" noProof="0" dirty="0" err="1"/>
              <a:t>Thymeleaf</a:t>
            </a:r>
            <a:endParaRPr lang="es-PE" noProof="0" dirty="0"/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9. El navegador renderiza el HTML al usuario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Base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MySQL — Diagrama relacional con 7 tablas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572000" cy="47548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🗄️  Base de datos: </a:t>
            </a:r>
            <a:r>
              <a:rPr lang="es-PE" noProof="0" dirty="0" err="1"/>
              <a:t>serfagab</a:t>
            </a:r>
            <a:endParaRPr lang="es-PE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1148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Tablas del sistema: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endParaRPr lang="es-PE" noProof="0" dirty="0"/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👤  </a:t>
            </a:r>
            <a:r>
              <a:rPr lang="es-PE" noProof="0" dirty="0" err="1"/>
              <a:t>tbl_usuario</a:t>
            </a:r>
            <a:r>
              <a:rPr lang="es-PE" noProof="0" dirty="0"/>
              <a:t>          (</a:t>
            </a:r>
            <a:r>
              <a:rPr lang="es-PE" noProof="0" dirty="0" err="1"/>
              <a:t>login</a:t>
            </a:r>
            <a:r>
              <a:rPr lang="es-PE" noProof="0" dirty="0"/>
              <a:t>/autenticación)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🏷️  </a:t>
            </a:r>
            <a:r>
              <a:rPr lang="es-PE" noProof="0" dirty="0" err="1"/>
              <a:t>tbl_tipo</a:t>
            </a:r>
            <a:r>
              <a:rPr lang="es-PE" noProof="0" dirty="0"/>
              <a:t>                (roles de usuario)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🏢  </a:t>
            </a:r>
            <a:r>
              <a:rPr lang="es-PE" noProof="0" dirty="0" err="1"/>
              <a:t>tbl_proveedor</a:t>
            </a:r>
            <a:r>
              <a:rPr lang="es-PE" noProof="0" dirty="0"/>
              <a:t>       (proveedores)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📦  </a:t>
            </a:r>
            <a:r>
              <a:rPr lang="es-PE" noProof="0" dirty="0" err="1"/>
              <a:t>tbl_tipo_material</a:t>
            </a:r>
            <a:r>
              <a:rPr lang="es-PE" noProof="0" dirty="0"/>
              <a:t>   (categorías)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📦  </a:t>
            </a:r>
            <a:r>
              <a:rPr lang="es-PE" noProof="0" dirty="0" err="1"/>
              <a:t>tbl_material</a:t>
            </a:r>
            <a:r>
              <a:rPr lang="es-PE" noProof="0" dirty="0"/>
              <a:t>           (materiales)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📋  </a:t>
            </a:r>
            <a:r>
              <a:rPr lang="es-PE" noProof="0" dirty="0" err="1"/>
              <a:t>tbl_orden_compra</a:t>
            </a:r>
            <a:r>
              <a:rPr lang="es-PE" noProof="0" dirty="0"/>
              <a:t>   (órdenes de compra)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📝  </a:t>
            </a:r>
            <a:r>
              <a:rPr lang="es-PE" noProof="0" dirty="0" err="1"/>
              <a:t>tbl_detalle_orden</a:t>
            </a:r>
            <a:r>
              <a:rPr lang="es-PE" noProof="0" dirty="0"/>
              <a:t>   (detalle de cada OC)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endParaRPr lang="es-PE" noProof="0" dirty="0"/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Vistas: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 </a:t>
            </a:r>
            <a:r>
              <a:rPr lang="es-PE" noProof="0" dirty="0" err="1"/>
              <a:t>v_header_orden_compra</a:t>
            </a:r>
            <a:endParaRPr lang="es-PE" noProof="0" dirty="0"/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  </a:t>
            </a:r>
            <a:r>
              <a:rPr lang="es-PE" noProof="0" dirty="0" err="1"/>
              <a:t>v_detalle_orden_compra</a:t>
            </a:r>
            <a:endParaRPr lang="es-PE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5669280" y="146304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94360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🔗  Relaciones entre tablas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 err="1"/>
              <a:t>tbl_usuario</a:t>
            </a:r>
            <a:r>
              <a:rPr lang="es-PE" noProof="0" dirty="0"/>
              <a:t>  ───  </a:t>
            </a:r>
            <a:r>
              <a:rPr lang="es-PE" noProof="0" dirty="0" err="1"/>
              <a:t>tbl_tipo</a:t>
            </a:r>
            <a:r>
              <a:rPr lang="es-PE" noProof="0" dirty="0"/>
              <a:t>         (N:1)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endParaRPr lang="es-PE" noProof="0" dirty="0"/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 err="1"/>
              <a:t>tbl_material</a:t>
            </a:r>
            <a:r>
              <a:rPr lang="es-PE" noProof="0" dirty="0"/>
              <a:t>  ───  </a:t>
            </a:r>
            <a:r>
              <a:rPr lang="es-PE" noProof="0" dirty="0" err="1"/>
              <a:t>tbl_tipo_material</a:t>
            </a:r>
            <a:r>
              <a:rPr lang="es-PE" noProof="0" dirty="0"/>
              <a:t>  (N:1)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endParaRPr lang="es-PE" noProof="0" dirty="0"/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 err="1"/>
              <a:t>tbl_orden_compra</a:t>
            </a:r>
            <a:r>
              <a:rPr lang="es-PE" noProof="0" dirty="0"/>
              <a:t>  ───  </a:t>
            </a:r>
            <a:r>
              <a:rPr lang="es-PE" noProof="0" dirty="0" err="1"/>
              <a:t>tbl_proveedor</a:t>
            </a:r>
            <a:r>
              <a:rPr lang="es-PE" noProof="0" dirty="0"/>
              <a:t>  (N:1)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 err="1"/>
              <a:t>tbl_orden_compra</a:t>
            </a:r>
            <a:r>
              <a:rPr lang="es-PE" noProof="0" dirty="0"/>
              <a:t>  ───  </a:t>
            </a:r>
            <a:r>
              <a:rPr lang="es-PE" noProof="0" dirty="0" err="1"/>
              <a:t>tbl_usuario</a:t>
            </a:r>
            <a:r>
              <a:rPr lang="es-PE" noProof="0" dirty="0"/>
              <a:t>    (N:1)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endParaRPr lang="es-PE" noProof="0" dirty="0"/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 err="1"/>
              <a:t>tbl_detalle_orden</a:t>
            </a:r>
            <a:r>
              <a:rPr lang="es-PE" noProof="0" dirty="0"/>
              <a:t> ───  </a:t>
            </a:r>
            <a:r>
              <a:rPr lang="es-PE" noProof="0" dirty="0" err="1"/>
              <a:t>tbl_orden_compra</a:t>
            </a:r>
            <a:r>
              <a:rPr lang="es-PE" noProof="0" dirty="0"/>
              <a:t> (N:1)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 err="1"/>
              <a:t>tbl_detalle_orden</a:t>
            </a:r>
            <a:r>
              <a:rPr lang="es-PE" noProof="0" dirty="0"/>
              <a:t> ───  </a:t>
            </a:r>
            <a:r>
              <a:rPr lang="es-PE" noProof="0" dirty="0" err="1"/>
              <a:t>tbl_material</a:t>
            </a:r>
            <a:r>
              <a:rPr lang="es-PE" noProof="0" dirty="0"/>
              <a:t>      (N:1)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114800"/>
            <a:ext cx="5029200" cy="18288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2179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rPr lang="es-PE" noProof="0" dirty="0"/>
              <a:t>💡  Datos clave: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5262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7 tablas relacionales con integridad referencial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2 vistas para consultas optimizadas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Índices y claves foráneas</a:t>
            </a:r>
          </a:p>
          <a:p>
            <a:pPr algn="l"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✓ Datos de prueba precargados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A57DE-B8FC-B028-E956-3436E1E2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99E06-FD9A-EFB5-4C02-98AAD7EA292D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449E20-44C1-B916-C0F9-E49723FAAD93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BC1D7-2ECB-CCB6-F418-40BBDF64A29D}"/>
              </a:ext>
            </a:extLst>
          </p:cNvPr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3FE6A6-5976-C79F-9D62-BCCBE999D70D}"/>
              </a:ext>
            </a:extLst>
          </p:cNvPr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C708A-CC83-F1F9-AC89-F3F1B9BC6E95}"/>
              </a:ext>
            </a:extLst>
          </p:cNvPr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Base de Datos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E9B2D-25BA-DF0E-DC74-547ED8B875B4}"/>
              </a:ext>
            </a:extLst>
          </p:cNvPr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MySQL — Diagrama relacional con 7 tablas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054FB-59C0-0979-322E-C2E6AF98F303}"/>
              </a:ext>
            </a:extLst>
          </p:cNvPr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10/15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C3A21D6-9739-FD1B-FC0F-B1E4C527D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494" y="118533"/>
            <a:ext cx="4824059" cy="646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66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Módulos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Funcionalidades implementadas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rPr lang="es-PE" noProof="0" dirty="0"/>
              <a:t>Autenticación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Inicio de sesión</a:t>
            </a:r>
            <a:br>
              <a:rPr lang="es-PE" noProof="0" dirty="0"/>
            </a:br>
            <a:r>
              <a:rPr lang="es-PE" noProof="0" dirty="0"/>
              <a:t>seguro con usuario</a:t>
            </a:r>
            <a:br>
              <a:rPr lang="es-PE" noProof="0" dirty="0"/>
            </a:br>
            <a:r>
              <a:rPr lang="es-PE" noProof="0" dirty="0"/>
              <a:t>y contraseña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480559" y="1463040"/>
            <a:ext cx="338328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754879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19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Proveedores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Registro, edición,</a:t>
            </a:r>
            <a:br>
              <a:rPr lang="es-PE" noProof="0" dirty="0"/>
            </a:br>
            <a:r>
              <a:rPr lang="es-PE" noProof="0" dirty="0"/>
              <a:t>consulta y cambio</a:t>
            </a:r>
            <a:br>
              <a:rPr lang="es-PE" noProof="0" dirty="0"/>
            </a:br>
            <a:r>
              <a:rPr lang="es-PE" noProof="0" dirty="0"/>
              <a:t>de estado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9" name="Rectangle 18"/>
          <p:cNvSpPr/>
          <p:nvPr/>
        </p:nvSpPr>
        <p:spPr>
          <a:xfrm>
            <a:off x="8229598" y="1463040"/>
            <a:ext cx="33832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8503918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8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rPr lang="es-PE" noProof="0" dirty="0"/>
              <a:t>Tipos de Material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219456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Mantenimiento de</a:t>
            </a:r>
            <a:br>
              <a:rPr lang="es-PE" noProof="0" dirty="0"/>
            </a:br>
            <a:r>
              <a:rPr lang="es-PE" noProof="0" dirty="0"/>
              <a:t>categorías de</a:t>
            </a:r>
            <a:br>
              <a:rPr lang="es-PE" noProof="0" dirty="0"/>
            </a:br>
            <a:r>
              <a:rPr lang="es-PE" noProof="0" dirty="0"/>
              <a:t>materiales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4" name="Rectangle 23"/>
          <p:cNvSpPr/>
          <p:nvPr/>
        </p:nvSpPr>
        <p:spPr>
          <a:xfrm>
            <a:off x="731520" y="4023360"/>
            <a:ext cx="33832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rPr lang="es-PE" noProof="0" dirty="0"/>
              <a:t>Materiales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Registro con filtro</a:t>
            </a:r>
            <a:br>
              <a:rPr lang="es-PE" noProof="0" dirty="0"/>
            </a:br>
            <a:r>
              <a:rPr lang="es-PE" noProof="0" dirty="0"/>
              <a:t>por tipo, stock y</a:t>
            </a:r>
            <a:br>
              <a:rPr lang="es-PE" noProof="0" dirty="0"/>
            </a:br>
            <a:r>
              <a:rPr lang="es-PE" noProof="0" dirty="0"/>
              <a:t>precios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40233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9" name="Rectangle 28"/>
          <p:cNvSpPr/>
          <p:nvPr/>
        </p:nvSpPr>
        <p:spPr>
          <a:xfrm>
            <a:off x="4480559" y="4023360"/>
            <a:ext cx="33832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4754879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19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rPr lang="es-PE" noProof="0" dirty="0"/>
              <a:t>Órdenes de</a:t>
            </a:r>
            <a:br>
              <a:rPr lang="es-PE" noProof="0" dirty="0"/>
            </a:br>
            <a:r>
              <a:rPr lang="es-PE" noProof="0" dirty="0"/>
              <a:t>Compra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Creación con</a:t>
            </a:r>
            <a:br>
              <a:rPr lang="es-PE" noProof="0" dirty="0"/>
            </a:br>
            <a:r>
              <a:rPr lang="es-PE" noProof="0" dirty="0"/>
              <a:t>detalle dinámico,</a:t>
            </a:r>
            <a:br>
              <a:rPr lang="es-PE" noProof="0" dirty="0"/>
            </a:br>
            <a:r>
              <a:rPr lang="es-PE" noProof="0" dirty="0"/>
              <a:t>estados y filtros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8" y="40233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4" name="Rectangle 33"/>
          <p:cNvSpPr/>
          <p:nvPr/>
        </p:nvSpPr>
        <p:spPr>
          <a:xfrm>
            <a:off x="8229598" y="4023360"/>
            <a:ext cx="338328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8503918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58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Reportes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8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Generación de PDF</a:t>
            </a:r>
            <a:br>
              <a:rPr lang="es-PE" noProof="0" dirty="0"/>
            </a:br>
            <a:r>
              <a:rPr lang="es-PE" noProof="0" dirty="0"/>
              <a:t>con </a:t>
            </a:r>
            <a:r>
              <a:rPr lang="es-PE" noProof="0" dirty="0" err="1"/>
              <a:t>JasperReports</a:t>
            </a:r>
            <a:r>
              <a:rPr lang="es-PE" noProof="0" dirty="0"/>
              <a:t>,</a:t>
            </a:r>
            <a:br>
              <a:rPr lang="es-PE" noProof="0" dirty="0"/>
            </a:br>
            <a:r>
              <a:rPr lang="es-PE" noProof="0" dirty="0"/>
              <a:t>vista de detalle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11/15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Demostración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Pantallas principales de la aplicación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1005840" y="1737360"/>
            <a:ext cx="2834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905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Acceso seguro al sistema</a:t>
            </a:r>
            <a:br>
              <a:rPr lang="es-PE" noProof="0" dirty="0"/>
            </a:br>
            <a:r>
              <a:rPr lang="es-PE" noProof="0" dirty="0"/>
              <a:t>mediante inicio de sesión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463040"/>
            <a:ext cx="3383280" cy="21945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4754879" y="1737360"/>
            <a:ext cx="2834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754879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🖥️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2947465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 err="1"/>
              <a:t>Dashboard</a:t>
            </a:r>
            <a:endParaRPr lang="es-PE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815687" y="32483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Panel principal con</a:t>
            </a:r>
            <a:br>
              <a:rPr lang="es-PE" noProof="0" dirty="0"/>
            </a:br>
            <a:r>
              <a:rPr lang="es-PE" noProof="0" dirty="0"/>
              <a:t>resumen y últimas 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1463040"/>
            <a:ext cx="3383280" cy="21945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9" name="Rounded Rectangle 18"/>
          <p:cNvSpPr/>
          <p:nvPr/>
        </p:nvSpPr>
        <p:spPr>
          <a:xfrm>
            <a:off x="8503918" y="1737360"/>
            <a:ext cx="2834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8503918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🖥️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0403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Listado Materiales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32501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Búsqueda y filtro</a:t>
            </a:r>
            <a:br>
              <a:rPr lang="es-PE" noProof="0" dirty="0"/>
            </a:br>
            <a:r>
              <a:rPr lang="es-PE" noProof="0" dirty="0"/>
              <a:t>por tipo de material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1005840" y="4297680"/>
            <a:ext cx="2834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1005840" y="45262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🖥️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Nueva 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89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Creación de orden</a:t>
            </a:r>
            <a:br>
              <a:rPr lang="es-PE" noProof="0" dirty="0"/>
            </a:br>
            <a:r>
              <a:rPr lang="es-PE" noProof="0" dirty="0"/>
              <a:t>de compra con detalle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4023360"/>
            <a:ext cx="3383280" cy="21945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9" name="Rounded Rectangle 28"/>
          <p:cNvSpPr/>
          <p:nvPr/>
        </p:nvSpPr>
        <p:spPr>
          <a:xfrm>
            <a:off x="4754879" y="4297680"/>
            <a:ext cx="2834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4754879" y="45262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5715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Detalle 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5989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Visualización completa</a:t>
            </a:r>
            <a:br>
              <a:rPr lang="es-PE" noProof="0" dirty="0"/>
            </a:br>
            <a:r>
              <a:rPr lang="es-PE" noProof="0" dirty="0"/>
              <a:t>de una orden de compra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8" y="4023360"/>
            <a:ext cx="3383280" cy="21945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4" name="Rounded Rectangle 33"/>
          <p:cNvSpPr/>
          <p:nvPr/>
        </p:nvSpPr>
        <p:spPr>
          <a:xfrm>
            <a:off x="8503918" y="4297680"/>
            <a:ext cx="2834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8503918" y="45262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🖥️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8" y="5715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Reporte PDF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8" y="5989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Exportación a PDF</a:t>
            </a:r>
            <a:br>
              <a:rPr lang="es-PE" noProof="0" dirty="0"/>
            </a:br>
            <a:r>
              <a:rPr lang="es-PE" noProof="0" dirty="0"/>
              <a:t>con </a:t>
            </a:r>
            <a:r>
              <a:rPr lang="es-PE" noProof="0" dirty="0" err="1"/>
              <a:t>JasperReports</a:t>
            </a:r>
            <a:endParaRPr lang="es-PE" noProof="0" dirty="0"/>
          </a:p>
        </p:txBody>
      </p:sp>
      <p:sp>
        <p:nvSpPr>
          <p:cNvPr id="39" name="Rounded Rectangle 38"/>
          <p:cNvSpPr/>
          <p:nvPr/>
        </p:nvSpPr>
        <p:spPr>
          <a:xfrm>
            <a:off x="731520" y="3931920"/>
            <a:ext cx="3383280" cy="25603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pic>
        <p:nvPicPr>
          <p:cNvPr id="40" name="Picture 39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3017520" cy="17373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14400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Login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172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Pantalla de inicio de sesión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59" y="3931920"/>
            <a:ext cx="3383280" cy="25603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pic>
        <p:nvPicPr>
          <p:cNvPr id="44" name="Picture 43" descr="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39" y="4114800"/>
            <a:ext cx="3017520" cy="17373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663439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 err="1"/>
              <a:t>Dashboard</a:t>
            </a:r>
            <a:endParaRPr lang="es-PE" noProof="0" dirty="0"/>
          </a:p>
        </p:txBody>
      </p:sp>
      <p:sp>
        <p:nvSpPr>
          <p:cNvPr id="46" name="TextBox 45"/>
          <p:cNvSpPr txBox="1"/>
          <p:nvPr/>
        </p:nvSpPr>
        <p:spPr>
          <a:xfrm>
            <a:off x="4663439" y="6172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Panel de control principal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598" y="3931920"/>
            <a:ext cx="3383280" cy="25603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pic>
        <p:nvPicPr>
          <p:cNvPr id="48" name="Picture 47" descr="im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8" y="4114800"/>
            <a:ext cx="3017520" cy="17373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412478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Proveedores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78" y="6172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Listado de proveedores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12/15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Logros alcanzados con el 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36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Gestión eficiente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830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La aplicación web permite gestionar de forma centralizada las órdenes de compra y materiales, superando el método manual anterior.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496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Reducción de tiempos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8346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Los módulos de registro y consulta con filtros reducen significativamente el tiempo de búsqueda y gestión de información.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100584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56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Seguridad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947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El sistema de autenticación por </a:t>
            </a:r>
            <a:r>
              <a:rPr lang="es-PE" noProof="0" dirty="0" err="1"/>
              <a:t>login</a:t>
            </a:r>
            <a:r>
              <a:rPr lang="es-PE" noProof="0" dirty="0"/>
              <a:t> garantiza que solo usuarios autorizados accedan al sistema.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16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Base tecnológica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7548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El uso de Spring Boot, JPA y MySQL proporciona una arquitectura robusta, escalable y moderna.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376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Futuras expansiones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7150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El proyecto sienta las bases para incorporar módulos adicionales como clientes, facturación e inventario en tiempo real.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13/15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SERFAGAB S.A.C. — Sistema de Gestión de Órdenes de Compra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Recomendaciones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Para la implementación y evolución del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29200" cy="9144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17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Capacitación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Capacitar al personal administrativo, de compras y almacén en el uso del sistema para asegurar su correcta adopción.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029200" cy="9144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269748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43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Copias de seguridad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63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Implementar copias de seguridad periódicas de la base de datos para evitar pérdida de información.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029200" cy="9144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Mantenimiento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51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Realizar mantenimiento preventivo de la aplicación y la base de datos para garantizar su disponibilidad.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5029200" cy="9144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029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Calibri"/>
              </a:defRPr>
            </a:pPr>
            <a:r>
              <a:rPr lang="es-PE" noProof="0" dirty="0"/>
              <a:t>Futuras mejoras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57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Evaluar la integración de módulos adicionales como facturación electrónica, control de inventario en tiempo real y gestión de clientes.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rPr lang="es-PE" noProof="0" dirty="0"/>
              <a:t>🔮  Posibles ampliaciones futuras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• Gestión de clientes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• Facturación electrónica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• Reportes avanzados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• Control de inventario en tiempo real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• Módulo de usuarios y roles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• Notificaciones por email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• API REST para integraciones</a:t>
            </a:r>
          </a:p>
          <a:p>
            <a:pPr algn="l"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rPr lang="es-PE" noProof="0" dirty="0"/>
              <a:t>• App móvil complementaria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14/15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¡Gracias por su atención!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A2B8"/>
                </a:solidFill>
                <a:latin typeface="Calibri"/>
              </a:defRPr>
            </a:pPr>
            <a:r>
              <a:rPr lang="es-PE" noProof="0" dirty="0"/>
              <a:t>Sistema de Gestión de Órdenes de Compra y Materiales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  <a:latin typeface="Calibri"/>
              </a:defRPr>
            </a:pPr>
            <a:r>
              <a:rPr lang="es-PE" noProof="0" dirty="0"/>
              <a:t>SERFAGAB S.A.C.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rPr lang="es-PE" noProof="0" dirty="0"/>
              <a:t>Integrantes: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Valerie </a:t>
            </a:r>
            <a:r>
              <a:rPr lang="es-PE" noProof="0" dirty="0" err="1"/>
              <a:t>Giulisa</a:t>
            </a:r>
            <a:r>
              <a:rPr lang="es-PE" noProof="0" dirty="0"/>
              <a:t> Sue Cavero Chipana — 202504206</a:t>
            </a:r>
          </a:p>
          <a:p>
            <a:pPr algn="ctr"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lang="es-PE" noProof="0" dirty="0" err="1"/>
              <a:t>Jhon</a:t>
            </a:r>
            <a:r>
              <a:rPr lang="es-PE" noProof="0" dirty="0"/>
              <a:t> Espinoza — 202508364</a:t>
            </a:r>
          </a:p>
          <a:p>
            <a:pPr algn="ctr"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Manuel Heber Sejuro Alfaro — 202503691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lang="es-PE" noProof="0" dirty="0"/>
              <a:t>Docente: Ernesto Arbulu </a:t>
            </a:r>
            <a:r>
              <a:rPr lang="es-PE" noProof="0" dirty="0" err="1"/>
              <a:t>Chumbipuma</a:t>
            </a:r>
            <a:r>
              <a:rPr lang="es-PE" noProof="0" dirty="0"/>
              <a:t> | CIBERTEC —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s-PE" noProof="0" dirty="0"/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1886</Words>
  <Application>Microsoft Office PowerPoint</Application>
  <PresentationFormat>Panorámica</PresentationFormat>
  <Paragraphs>328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I202503691 (SEJURO ALFARO,MANUEL HEBER)</cp:lastModifiedBy>
  <cp:revision>4</cp:revision>
  <dcterms:created xsi:type="dcterms:W3CDTF">2013-01-27T09:14:16Z</dcterms:created>
  <dcterms:modified xsi:type="dcterms:W3CDTF">2026-06-27T14:36:31Z</dcterms:modified>
  <cp:category/>
</cp:coreProperties>
</file>